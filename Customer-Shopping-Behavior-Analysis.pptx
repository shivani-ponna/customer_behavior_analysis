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mfortaa Bold"/>
      <p:regular r:id="rId201314"/>
    </p:embeddedFont>
    <p:embeddedFont>
      <p:font typeface="Comfortaa Medium"/>
      <p:regular r:id="rId201315"/>
    </p:embeddedFont>
    <p:embeddedFont>
      <p:font typeface="Raleway Medium"/>
      <p:regular r:id="rId201316"/>
    </p:embeddedFont>
    <p:embeddedFont>
      <p:font typeface="Raleway Bold"/>
      <p:regular r:id="rId201317"/>
    </p:embeddedFont>
    <p:embeddedFont>
      <p:font typeface="Raleway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657052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Shopping Behavior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745730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across demographics, product preferences, and spending patterns to guide strategic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at a Glance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0023" y="754261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3,900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0023" y="1076251"/>
            <a:ext cx="40078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Total Purchases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596110" y="754261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96110" y="1076251"/>
            <a:ext cx="40078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Columns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40023" y="1299046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70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0023" y="1621036"/>
            <a:ext cx="40078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Max Age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96110" y="1299046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$100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96110" y="1621036"/>
            <a:ext cx="40078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Max Purchase</a:t>
            </a:r>
            <a:endParaRPr lang="en-US" sz="6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814959"/>
            <a:ext cx="5175721" cy="29328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08625" y="3068762"/>
            <a:ext cx="27000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Data Fields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908625" y="3214464"/>
            <a:ext cx="2700040" cy="30465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Demographics: Age, Gender, Location, Subscription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Purchases: Item, Category, Amount, Season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Behavior: Discount, Promo Code, Frequency, Review Rating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708050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Preparation in Python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0023" y="1796728"/>
            <a:ext cx="2240310" cy="1375172"/>
          </a:xfrm>
          <a:prstGeom prst="roundRect">
            <a:avLst>
              <a:gd name="adj" fmla="val 16831"/>
            </a:avLst>
          </a:prstGeom>
          <a:solidFill>
            <a:srgbClr val="46464A"/>
          </a:solidFill>
          <a:ln/>
        </p:spPr>
      </p:sp>
      <p:sp>
        <p:nvSpPr>
          <p:cNvPr id="5" name="Text 2"/>
          <p:cNvSpPr/>
          <p:nvPr/>
        </p:nvSpPr>
        <p:spPr>
          <a:xfrm>
            <a:off x="694283" y="1950988"/>
            <a:ext cx="19317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Clean &amp; Load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4283" y="2257871"/>
            <a:ext cx="1931789" cy="750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Imported via pandas, checked structure with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4593" y="1796728"/>
            <a:ext cx="2240384" cy="1375172"/>
          </a:xfrm>
          <a:prstGeom prst="roundRect">
            <a:avLst>
              <a:gd name="adj" fmla="val 16831"/>
            </a:avLst>
          </a:prstGeom>
          <a:solidFill>
            <a:srgbClr val="46464A"/>
          </a:solidFill>
          <a:ln/>
        </p:spPr>
      </p:sp>
      <p:sp>
        <p:nvSpPr>
          <p:cNvPr id="8" name="Text 5"/>
          <p:cNvSpPr/>
          <p:nvPr/>
        </p:nvSpPr>
        <p:spPr>
          <a:xfrm>
            <a:off x="3088853" y="1950988"/>
            <a:ext cx="1931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8853" y="2257871"/>
            <a:ext cx="1931863" cy="75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bins and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023" y="3326160"/>
            <a:ext cx="4634954" cy="1109216"/>
          </a:xfrm>
          <a:prstGeom prst="roundRect">
            <a:avLst>
              <a:gd name="adj" fmla="val 20867"/>
            </a:avLst>
          </a:prstGeom>
          <a:solidFill>
            <a:srgbClr val="46464A"/>
          </a:solidFill>
          <a:ln/>
        </p:spPr>
      </p:sp>
      <p:sp>
        <p:nvSpPr>
          <p:cNvPr id="11" name="Text 8"/>
          <p:cNvSpPr/>
          <p:nvPr/>
        </p:nvSpPr>
        <p:spPr>
          <a:xfrm>
            <a:off x="694283" y="3480420"/>
            <a:ext cx="43264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Database Ready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283" y="3787304"/>
            <a:ext cx="432643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Loaded cleaned DataFrame into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PostgreSQL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for SQL analysis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by Gender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6771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than female customers — $157,890 vs $75,191.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64956" y="2535064"/>
            <a:ext cx="3843784" cy="848618"/>
          </a:xfrm>
          <a:prstGeom prst="roundRect">
            <a:avLst>
              <a:gd name="adj" fmla="val 27275"/>
            </a:avLst>
          </a:prstGeom>
          <a:solidFill>
            <a:srgbClr val="806A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16" y="2764334"/>
            <a:ext cx="192881" cy="1542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66358" y="2712467"/>
            <a:ext cx="318812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Opportunity to investigate gender-based marketing gaps.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4624"/>
            <a:ext cx="8063954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Product &amp; Discount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0023" y="1221879"/>
            <a:ext cx="384966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Products by Rating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0023" y="1592387"/>
            <a:ext cx="3849663" cy="2545259"/>
          </a:xfrm>
          <a:prstGeom prst="roundRect">
            <a:avLst>
              <a:gd name="adj" fmla="val 881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0023" y="2018184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0023" y="2441600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0023" y="2865016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0023" y="3288432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0023" y="3711848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4283" y="168875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Product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14315" y="168875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Avg Rating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283" y="2112169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Gloves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14315" y="2112169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3.86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283" y="2535585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Sandals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14315" y="2535585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3.84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283" y="2959001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Boots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14315" y="2959001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3.81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283" y="3382417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14315" y="3382417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3.81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283" y="380583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T-shirt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14315" y="380583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3.78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9077" y="1221879"/>
            <a:ext cx="384966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Most Discount-Dependent Products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9077" y="1592387"/>
            <a:ext cx="3849663" cy="2545259"/>
          </a:xfrm>
          <a:prstGeom prst="roundRect">
            <a:avLst>
              <a:gd name="adj" fmla="val 881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9077" y="2018184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59077" y="2441600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59077" y="2865016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59077" y="3288432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59077" y="3711848"/>
            <a:ext cx="3849663" cy="934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13337" y="168875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Product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33369" y="168875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Discount Rate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13337" y="2112169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33369" y="2112169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50.00%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3337" y="2535585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Sneakers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33369" y="2535585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49.66%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3337" y="2959001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Coat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33369" y="2959001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49.07%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13337" y="3382417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Sweater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33369" y="3382417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48.17%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13337" y="380583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Pants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33369" y="3805833"/>
            <a:ext cx="2078385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47.37%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0023" y="4463430"/>
            <a:ext cx="85211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839 customers used discounts yet spent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above average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purchase amounts.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Shipping &amp; Subscription Analysis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Subscribers vs Non-Subscribers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64956" y="1886992"/>
            <a:ext cx="3843784" cy="1362819"/>
          </a:xfrm>
          <a:prstGeom prst="roundRect">
            <a:avLst>
              <a:gd name="adj" fmla="val 16984"/>
            </a:avLst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64956" y="2342852"/>
            <a:ext cx="3843784" cy="96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64956" y="2793950"/>
            <a:ext cx="3843784" cy="96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929336" y="1993850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Status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03900" y="1993850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78464" y="1993850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Revenue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29336" y="2444948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Yes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03900" y="2444948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1,053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78464" y="2444948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$62,645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29336" y="2896046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03900" y="2896046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2,847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78464" y="2896046"/>
            <a:ext cx="14232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$170,436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64956" y="3423345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Repeat buyers (&gt;5 purchases):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958 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vs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2,518 non-subscribers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255961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Segmentation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69023" y="1916013"/>
            <a:ext cx="4634954" cy="1971526"/>
          </a:xfrm>
          <a:prstGeom prst="roundRect">
            <a:avLst>
              <a:gd name="adj" fmla="val 11740"/>
            </a:avLst>
          </a:prstGeom>
          <a:solidFill>
            <a:srgbClr val="46464A"/>
          </a:solidFill>
          <a:ln/>
        </p:spPr>
      </p:sp>
      <p:sp>
        <p:nvSpPr>
          <p:cNvPr id="5" name="Shape 2"/>
          <p:cNvSpPr/>
          <p:nvPr/>
        </p:nvSpPr>
        <p:spPr>
          <a:xfrm>
            <a:off x="3969023" y="1916013"/>
            <a:ext cx="2317477" cy="1109216"/>
          </a:xfrm>
          <a:custGeom>
            <a:avLst/>
            <a:gdLst/>
            <a:ahLst/>
            <a:cxnLst/>
            <a:rect l="l" t="t" r="r" b="b"/>
            <a:pathLst>
              <a:path w="2317477" h="1109216">
                <a:moveTo>
                  <a:pt x="192881" y="0"/>
                </a:moveTo>
                <a:lnTo>
                  <a:pt x="2317477" y="0"/>
                </a:lnTo>
                <a:lnTo>
                  <a:pt x="2317477" y="1109216"/>
                </a:lnTo>
                <a:lnTo>
                  <a:pt x="0" y="1109216"/>
                </a:lnTo>
                <a:lnTo>
                  <a:pt x="0" y="192881"/>
                </a:lnTo>
                <a:arcTo hR="192881" wR="192881" stAng="10800000" swAng="5400000"/>
                <a:close/>
              </a:path>
            </a:pathLst>
          </a:cu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4123283" y="2070274"/>
            <a:ext cx="20089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23283" y="2377157"/>
            <a:ext cx="2008956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customers — the dominant segment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0" y="1916013"/>
            <a:ext cx="2317477" cy="1109216"/>
          </a:xfrm>
          <a:custGeom>
            <a:avLst/>
            <a:gdLst/>
            <a:ahLst/>
            <a:cxnLst/>
            <a:rect l="l" t="t" r="r" b="b"/>
            <a:pathLst>
              <a:path w="2317477" h="1109216">
                <a:moveTo>
                  <a:pt x="0" y="0"/>
                </a:moveTo>
                <a:lnTo>
                  <a:pt x="2124596" y="0"/>
                </a:lnTo>
                <a:arcTo hR="192881" wR="192881" stAng="16200000" swAng="5400000"/>
                <a:lnTo>
                  <a:pt x="2317477" y="1109216"/>
                </a:lnTo>
                <a:lnTo>
                  <a:pt x="0" y="1109216"/>
                </a:lnTo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1916013"/>
            <a:ext cx="19050" cy="1109216"/>
          </a:xfrm>
          <a:prstGeom prst="roundRect">
            <a:avLst>
              <a:gd name="adj" fmla="val 50000"/>
            </a:avLst>
          </a:prstGeom>
          <a:solidFill>
            <a:srgbClr val="5F5F63"/>
          </a:solidFill>
          <a:ln/>
        </p:spPr>
      </p:sp>
      <p:sp>
        <p:nvSpPr>
          <p:cNvPr id="10" name="Text 7"/>
          <p:cNvSpPr/>
          <p:nvPr/>
        </p:nvSpPr>
        <p:spPr>
          <a:xfrm>
            <a:off x="6440760" y="2070274"/>
            <a:ext cx="20089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40760" y="2377157"/>
            <a:ext cx="2008956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customers — growth opportunity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69023" y="3025229"/>
            <a:ext cx="4634954" cy="862310"/>
          </a:xfrm>
          <a:custGeom>
            <a:avLst/>
            <a:gdLst/>
            <a:ahLst/>
            <a:cxnLst/>
            <a:rect l="l" t="t" r="r" b="b"/>
            <a:pathLst>
              <a:path w="4634954" h="862310">
                <a:moveTo>
                  <a:pt x="0" y="0"/>
                </a:moveTo>
                <a:lnTo>
                  <a:pt x="4634954" y="0"/>
                </a:lnTo>
                <a:lnTo>
                  <a:pt x="4634954" y="669429"/>
                </a:lnTo>
                <a:arcTo hR="192881" wR="192881" stAng="0" swAng="5400000"/>
                <a:lnTo>
                  <a:pt x="192881" y="862310"/>
                </a:lnTo>
                <a:arcTo hR="192881" wR="192881" stAng="5400000" swAng="5400000"/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/>
        </p:spPr>
      </p:sp>
      <p:sp>
        <p:nvSpPr>
          <p:cNvPr id="13" name="Shape 10"/>
          <p:cNvSpPr/>
          <p:nvPr/>
        </p:nvSpPr>
        <p:spPr>
          <a:xfrm>
            <a:off x="3969023" y="3025229"/>
            <a:ext cx="4634954" cy="19050"/>
          </a:xfrm>
          <a:prstGeom prst="roundRect">
            <a:avLst>
              <a:gd name="adj" fmla="val 50000"/>
            </a:avLst>
          </a:prstGeom>
          <a:solidFill>
            <a:srgbClr val="5F5F63"/>
          </a:solidFill>
          <a:ln/>
        </p:spPr>
      </p:sp>
      <p:sp>
        <p:nvSpPr>
          <p:cNvPr id="14" name="Text 11"/>
          <p:cNvSpPr/>
          <p:nvPr/>
        </p:nvSpPr>
        <p:spPr>
          <a:xfrm>
            <a:off x="4123283" y="3179490"/>
            <a:ext cx="43264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New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23283" y="3486373"/>
            <a:ext cx="432643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customers — smallest segment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Products by Category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739825"/>
            <a:ext cx="3937918" cy="39379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0822" y="2443088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Category Leaders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70822" y="2588791"/>
            <a:ext cx="3937918" cy="41069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Clothing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Blouse, Pants, Shirt lead orders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Outerwear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Jacket &amp; Coat top sellers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Footwear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Sandals most purchased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Accessories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Jewelry leads the category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2094"/>
            <a:ext cx="8063954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 BI Dashboard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367433"/>
            <a:ext cx="5134496" cy="2909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5123" y="1044922"/>
            <a:ext cx="262354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Dashboard Highlights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85123" y="1333649"/>
            <a:ext cx="2623542" cy="736922"/>
          </a:xfrm>
          <a:prstGeom prst="roundRect">
            <a:avLst>
              <a:gd name="adj" fmla="val 25520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4724" y="1473250"/>
            <a:ext cx="234434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3.9K Customers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24724" y="1749177"/>
            <a:ext cx="2344341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Avg purchase $59.76 · Rating 3.75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85123" y="2172370"/>
            <a:ext cx="2623542" cy="736922"/>
          </a:xfrm>
          <a:prstGeom prst="roundRect">
            <a:avLst>
              <a:gd name="adj" fmla="val 25520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4724" y="2311971"/>
            <a:ext cx="234434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73% Non-Subscribers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4724" y="2587898"/>
            <a:ext cx="2344341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Only 27% hold subscriptions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5123" y="3011091"/>
            <a:ext cx="2623542" cy="736922"/>
          </a:xfrm>
          <a:prstGeom prst="roundRect">
            <a:avLst>
              <a:gd name="adj" fmla="val 25520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4724" y="3150691"/>
            <a:ext cx="234434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Clothing Dominates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24724" y="3426619"/>
            <a:ext cx="2344341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Top category for revenue &amp; sales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5123" y="3849812"/>
            <a:ext cx="2623542" cy="736922"/>
          </a:xfrm>
          <a:prstGeom prst="roundRect">
            <a:avLst>
              <a:gd name="adj" fmla="val 25520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4724" y="3989412"/>
            <a:ext cx="234434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Young Adults Lead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24724" y="4265340"/>
            <a:ext cx="2344341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Highest revenue &amp; sales by age group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56902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6843" y="1550380"/>
            <a:ext cx="231428" cy="2314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70425" y="1545580"/>
            <a:ext cx="41335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70425" y="1852464"/>
            <a:ext cx="413355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Promote exclusive subscriber benefits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6843" y="2412764"/>
            <a:ext cx="231428" cy="2314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70425" y="2407965"/>
            <a:ext cx="41335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70425" y="2714848"/>
            <a:ext cx="413355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Reward repeat buyers → Loyal segment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6843" y="3275149"/>
            <a:ext cx="231428" cy="231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70425" y="3270349"/>
            <a:ext cx="41335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70425" y="3577233"/>
            <a:ext cx="413355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Balance sales lift with margin control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6843" y="4137533"/>
            <a:ext cx="231428" cy="2314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70425" y="4132734"/>
            <a:ext cx="41335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70425" y="4439617"/>
            <a:ext cx="413355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Focus on Young Adults &amp; Express shipping users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2026-08-12T19:03:05Z</dcterms:created>
  <dcterms:modified xsi:type="dcterms:W3CDTF">2026-08-12T19:03:05Z</dcterms:modified>
</cp:coreProperties>
</file>